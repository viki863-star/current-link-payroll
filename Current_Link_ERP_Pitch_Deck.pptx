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36576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Current Link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B0C8"/>
                </a:solidFill>
                <a:latin typeface="Calibri"/>
              </a:defRPr>
            </a:pPr>
            <a:r>
              <a:t>Complete Business Management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A623"/>
                </a:solidFill>
                <a:latin typeface="Calibri"/>
              </a:defRPr>
            </a:pPr>
            <a:r>
              <a:t>Heavy Equipment | Transport | General Contracting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Abu Dhabi · UAE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371600"/>
            <a:ext cx="4572000" cy="4114800"/>
          </a:xfrm>
          <a:prstGeom prst="round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0" y="1554480"/>
            <a:ext cx="2011680" cy="54864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Dashboard &amp;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54480"/>
            <a:ext cx="2011680" cy="54864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HR &amp; Payroll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68880"/>
            <a:ext cx="2011680" cy="54864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Fleet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468880"/>
            <a:ext cx="2011680" cy="54864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Customer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383280"/>
            <a:ext cx="2011680" cy="54864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Supplier Portal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383280"/>
            <a:ext cx="2011680" cy="54864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Accounts &amp; Finance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297680"/>
            <a:ext cx="2011680" cy="54864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Document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297680"/>
            <a:ext cx="2011680" cy="54864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Reports &amp; Tax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Confidential | For Presentation Purposes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A3A"/>
                </a:solidFill>
                <a:latin typeface="Calibri"/>
              </a:defRPr>
            </a:pPr>
            <a:r>
              <a:t>About Current Link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560320" cy="54864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6CB3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A3A"/>
                </a:solidFill>
                <a:latin typeface="Calibri"/>
              </a:defRPr>
            </a:pPr>
            <a:r>
              <a:t>Years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Established in 2015, serving UAE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28016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280160"/>
            <a:ext cx="2560320" cy="5486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A88F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A3A"/>
                </a:solidFill>
                <a:latin typeface="Calibri"/>
              </a:defRPr>
            </a:pPr>
            <a:r>
              <a:t>Equipment Fleet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Excavators, Cranes, Trailers &amp; more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280160"/>
            <a:ext cx="25603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A623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A3A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Round-the-clock service &amp;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28016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280160"/>
            <a:ext cx="256032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53E3E"/>
                </a:solidFill>
                <a:latin typeface="Calibri"/>
              </a:defRPr>
            </a:pPr>
            <a:r>
              <a:t>SPC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A3A"/>
                </a:solidFill>
                <a:latin typeface="Calibri"/>
              </a:defRPr>
            </a:pPr>
            <a:r>
              <a:t>Licensed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Full UAE SPC license &amp; ISO certified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A3A"/>
                </a:solidFill>
                <a:latin typeface="Calibri"/>
              </a:defRPr>
            </a:pPr>
            <a:r>
              <a:t>Our Services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114800"/>
            <a:ext cx="13716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462272"/>
            <a:ext cx="109728" cy="109728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Heavy Equipment Rental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Excavators, Cranes, Man Lifts, Forklifts, Bobcats, Graders, Trailers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10912"/>
            <a:ext cx="109728" cy="109728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Water Supply &amp; Removal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Water tanker services for construction &amp; industrial sites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559552"/>
            <a:ext cx="109728" cy="109728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General Contracting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Full project management &amp; execution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108192"/>
            <a:ext cx="109728" cy="109728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Transport Solutions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Monthly rental with experienced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2A3A"/>
                </a:solidFill>
                <a:latin typeface="Calibri"/>
              </a:defRPr>
            </a:pPr>
            <a:r>
              <a:t>Common Business Challenges We 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80160"/>
            <a:ext cx="5029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280160"/>
            <a:ext cx="54864" cy="12801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 Fragmented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Multiple spreadsheets, disconnected software, no single source of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280160"/>
            <a:ext cx="5029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280160"/>
            <a:ext cx="54864" cy="12801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 Manual Data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Human error, duplicates, wasted time on repetitive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834640"/>
            <a:ext cx="5029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834640"/>
            <a:ext cx="54864" cy="12801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 Payment &amp; Invoice Chaos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83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Mismatched payments, uncleared dues, credit note confusion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834640"/>
            <a:ext cx="5029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834640"/>
            <a:ext cx="54864" cy="12801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 Paper-Based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83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Lost documents, delayed approvals, no digital trail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389120"/>
            <a:ext cx="5029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4389120"/>
            <a:ext cx="54864" cy="12801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 No Real-Time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Can't see outstanding balances, fleet status, or driver dues instantly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389120"/>
            <a:ext cx="5029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4389120"/>
            <a:ext cx="54864" cy="12801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 Tax Compliance Headaches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37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VAT calculation errors, messy tax reports, audit risks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Current Link ERP — One System,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A623"/>
                </a:solidFill>
                <a:latin typeface="Calibri"/>
              </a:defRPr>
            </a:pPr>
            <a:r>
              <a:t>Built for Transport, Equipment Rental &amp; Contracting Businesses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Dashboard &amp;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Real-time KPIs, workspace switcher, global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59" y="155448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19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HR &amp; Payroll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19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Employee management, salary slips, advances, loans, timesheets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37160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8" y="155448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8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Fleet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58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Vehicle tracking, maintenance, fuel, driver assignment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Driver Desk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Timesheets, financial kata, advances, salary calculation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65176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80559" y="283464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Supplier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19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Normal, partnership, managed &amp; cash supplier modes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8" y="265176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598" y="283464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58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Customer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58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Invoices, payments, SOA, credit notes, quotations, LPOs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Accounts &amp; Finance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Owner fund, loans, annual fees, tax reports, invoice center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79" y="393192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80559" y="411480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19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Document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19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Central document hub, expiry alerts, PDF/OCR support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18" y="393192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29598" y="411480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58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Supplier Portal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58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Self-registration, quotations, timesheets, payment tracking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21208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1520" y="539496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🛠️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Field Staff Portal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669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Maintenance jobs, cash receipts, expense entry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7679" y="521208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80559" y="539496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19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PDF Generation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19" y="5669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Tax invoices, quotations, LPOs, salary slips, SOA, vouchers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18" y="5212080"/>
            <a:ext cx="3474720" cy="1097280"/>
          </a:xfrm>
          <a:prstGeom prst="roundRect">
            <a:avLst/>
          </a:prstGeom>
          <a:solidFill>
            <a:srgbClr val="22334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229598" y="5394960"/>
            <a:ext cx="457200" cy="457200"/>
          </a:xfrm>
          <a:prstGeom prst="ellipse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58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A3A"/>
                </a:solidFill>
                <a:latin typeface="Calibri"/>
              </a:defRPr>
            </a:pPr>
            <a:r>
              <a:t>Reports &amp; Tax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58" y="5669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VAT reports, purchase reports, Excel/PDF export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B0C8"/>
                </a:solidFill>
                <a:latin typeface="Calibri"/>
              </a:defRPr>
            </a:pPr>
            <a:r>
              <a:t>Technology: Python Flask · SQLite/PostgreSQL · ReportLab PDF · Waitress Server · OCR | 50+ Database Tables | 19,000+ Lines of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2A3A"/>
                </a:solidFill>
                <a:latin typeface="Calibri"/>
              </a:defRPr>
            </a:pPr>
            <a:r>
              <a:t>Key Feature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572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📊  Smart SOA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Real-time Statement of Account with running balance. Credit notes &amp; payments auto-synced. Fully paid invoices auto-hide.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03520" cy="4572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🤝  Multi-Mode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Normal, Partnership, Managed &amp; Cash — each with dedicated workflow, timesheets, vouchers &amp; payment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5303520" cy="45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👥  HR + Payroll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Employee database, advances/loans, salary store, auto salary slip generation with deduction statements.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83464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834640"/>
            <a:ext cx="530352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🚛  Fleet +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29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Vehicle master, driver assignment, maintenance jobs with staff portal, fuel tracking, document uploads.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480560"/>
            <a:ext cx="530352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📑  PDF Factory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749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All major documents as professional PDFs — tax invoices, SOA, salary slips, quotations, LPOs, vouchers, kata.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8056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480560"/>
            <a:ext cx="530352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💰  Owner Fund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0749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Track owner cash flow — incoming/outgoing with full statement, filterable PDF export.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2A3A"/>
                </a:solidFill>
                <a:latin typeface="Calibri"/>
              </a:defRPr>
            </a:pPr>
            <a:r>
              <a:t>Simplified Payment &amp; Invoice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188720"/>
            <a:ext cx="502920" cy="50292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691640"/>
            <a:ext cx="45720" cy="50292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Create Invoice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Generate tax invoices with VAT breakdown, LPO reference &amp; trip details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194560"/>
            <a:ext cx="502920" cy="50292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697480"/>
            <a:ext cx="45720" cy="50292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Issue Credit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Easily correct invoices — credit notes auto-adjust balances &amp; SOA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200400"/>
            <a:ext cx="502920" cy="50292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703320"/>
            <a:ext cx="45720" cy="50292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Record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Enter cheque/cash amount, select invoices, auto-allocation &amp; match check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206240"/>
            <a:ext cx="502920" cy="50292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709160"/>
            <a:ext cx="45720" cy="50292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View SOA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Real-time statement showing invoices, payments, credit notes &amp; running balance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212080"/>
            <a:ext cx="502920" cy="50292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Download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Export SOA, tax reports &amp; statements as professional PDFs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1371600"/>
            <a:ext cx="4572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88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444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3A"/>
                </a:solidFill>
                <a:latin typeface="Calibri"/>
              </a:defRPr>
            </a:pPr>
            <a:r>
              <a:t>Auto-match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755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Payment amount vs invoice total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468880"/>
            <a:ext cx="4572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88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542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3A"/>
                </a:solidFill>
                <a:latin typeface="Calibri"/>
              </a:defRPr>
            </a:pPr>
            <a:r>
              <a:t>Undo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8529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One-click payment reversal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3566160"/>
            <a:ext cx="4572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88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639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3A"/>
                </a:solidFill>
                <a:latin typeface="Calibri"/>
              </a:defRPr>
            </a:pPr>
            <a:r>
              <a:t>Decimal Precision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All amounts show 2 decimal places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663440"/>
            <a:ext cx="4572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88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736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3A"/>
                </a:solidFill>
                <a:latin typeface="Calibri"/>
              </a:defRPr>
            </a:pPr>
            <a:r>
              <a:t>Credit Notes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0474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Auto-adjust invoice balances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Choose Current Link ERP?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1051560"/>
          </a:xfrm>
          <a:prstGeom prst="round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Purpose-Built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8D8"/>
                </a:solidFill>
                <a:latin typeface="Calibri"/>
              </a:defRPr>
            </a:pPr>
            <a:r>
              <a:t>Designed specifically for transport, equipment rental &amp; contracting businesses — not a generic ERP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1051560"/>
          </a:xfrm>
          <a:prstGeom prst="round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280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Fast &amp; Lightweight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8D8"/>
                </a:solidFill>
                <a:latin typeface="Calibri"/>
              </a:defRPr>
            </a:pPr>
            <a:r>
              <a:t>Built on Python Flask — runs on minimal infrastructure, fast even on low-cost VPS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5303520" cy="1051560"/>
          </a:xfrm>
          <a:prstGeom prst="round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Secure &amp; Reliable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8D8"/>
                </a:solidFill>
                <a:latin typeface="Calibri"/>
              </a:defRPr>
            </a:pPr>
            <a:r>
              <a:t>Role-based access, audit logs, rate limiting, automatic daily backups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468880"/>
            <a:ext cx="5303520" cy="1051560"/>
          </a:xfrm>
          <a:prstGeom prst="round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Multi-Portal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8D8"/>
                </a:solidFill>
                <a:latin typeface="Calibri"/>
              </a:defRPr>
            </a:pPr>
            <a:r>
              <a:t>Dedicated portals for admin, accounts, suppliers, drivers &amp; field staff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49040"/>
            <a:ext cx="5303520" cy="1051560"/>
          </a:xfrm>
          <a:prstGeom prst="round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840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Paperless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06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8D8"/>
                </a:solidFill>
                <a:latin typeface="Calibri"/>
              </a:defRPr>
            </a:pPr>
            <a:r>
              <a:t>Generate all documents as PDFs — invoices, receipts, vouchers, statements,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49040"/>
            <a:ext cx="5303520" cy="1051560"/>
          </a:xfrm>
          <a:prstGeom prst="round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40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Cloud-Ready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06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8D8"/>
                </a:solidFill>
                <a:latin typeface="Calibri"/>
              </a:defRPr>
            </a:pPr>
            <a:r>
              <a:t>Deploy on any VPS — works with Docker, Render, Railway, or bare metal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29200"/>
            <a:ext cx="5303520" cy="1051560"/>
          </a:xfrm>
          <a:prstGeom prst="round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120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Cost Effective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8D8"/>
                </a:solidFill>
                <a:latin typeface="Calibri"/>
              </a:defRPr>
            </a:pPr>
            <a:r>
              <a:t>No monthly SaaS fees — one-time setup, own your data completely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029200"/>
            <a:ext cx="5303520" cy="1051560"/>
          </a:xfrm>
          <a:prstGeom prst="round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20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Fully Customizable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8D8"/>
                </a:solidFill>
                <a:latin typeface="Calibri"/>
              </a:defRPr>
            </a:pPr>
            <a:r>
              <a:t>Built for your business — easy to modify, extend, or integrate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2A3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18872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280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Python Flask · SQLAlchemy · Jinja2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18872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280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SQLite (dev) / PostgreSQL (production) · 50+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37744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Calibri"/>
              </a:defRPr>
            </a:pPr>
            <a:r>
              <a:t>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Waitress WSGI · Nginx Reverse Proxy · systemd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37744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HTML5 · CSS3 · Vanilla JS · Responsive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56616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Calibri"/>
              </a:defRPr>
            </a:pPr>
            <a:r>
              <a:t>PDF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ReportLab · Custom Templates · 20+ Document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56616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Calibri"/>
              </a:defRPr>
            </a:pPr>
            <a:r>
              <a:t>OCR/Parse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PyPDF2 · pdf2image + Tesseract (Arabic/English)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75488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CSRF Protection · Rate Limiting · Password Hashing · Audit 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75488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Docker · Render · Railway · Ubuntu VPS · Git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ERP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2011680"/>
          </a:xfrm>
          <a:prstGeom prst="roundRect">
            <a:avLst/>
          </a:prstGeom>
          <a:solidFill>
            <a:srgbClr val="28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474720" cy="2286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0C8"/>
                </a:solidFill>
                <a:latin typeface="Calibri"/>
              </a:defRPr>
            </a:pPr>
            <a:r>
              <a:t>Real-time KPI cards, quick actions, workspace switcher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280160"/>
            <a:ext cx="3474720" cy="2011680"/>
          </a:xfrm>
          <a:prstGeom prst="roundRect">
            <a:avLst/>
          </a:prstGeom>
          <a:solidFill>
            <a:srgbClr val="28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280160"/>
            <a:ext cx="3474720" cy="2286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2984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Customer SOA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169164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201168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59" y="233172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265176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0C8"/>
                </a:solidFill>
                <a:latin typeface="Calibri"/>
              </a:defRPr>
            </a:pPr>
            <a:r>
              <a:t>Running balance, invoice/payment entries, date filters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8" y="1280160"/>
            <a:ext cx="3474720" cy="2011680"/>
          </a:xfrm>
          <a:prstGeom prst="roundRect">
            <a:avLst/>
          </a:prstGeom>
          <a:solidFill>
            <a:srgbClr val="28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8" y="1280160"/>
            <a:ext cx="3474720" cy="2286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8" y="12984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Supplier Desk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8" y="169164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598" y="201168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8" y="233172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8" y="265176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58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0C8"/>
                </a:solidFill>
                <a:latin typeface="Calibri"/>
              </a:defRPr>
            </a:pPr>
            <a:r>
              <a:t>Timesheets, vouchers, payment tracking, mode filter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657600"/>
            <a:ext cx="3474720" cy="2011680"/>
          </a:xfrm>
          <a:prstGeom prst="roundRect">
            <a:avLst/>
          </a:prstGeom>
          <a:solidFill>
            <a:srgbClr val="28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657600"/>
            <a:ext cx="3474720" cy="2286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6758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HR Payroll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06908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38912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70916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02920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0C8"/>
                </a:solidFill>
                <a:latin typeface="Calibri"/>
              </a:defRPr>
            </a:pPr>
            <a:r>
              <a:t>Employee profiles, salary slips, deduction statements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79" y="3657600"/>
            <a:ext cx="3474720" cy="2011680"/>
          </a:xfrm>
          <a:prstGeom prst="roundRect">
            <a:avLst/>
          </a:prstGeom>
          <a:solidFill>
            <a:srgbClr val="28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79" y="3657600"/>
            <a:ext cx="3474720" cy="2286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39" y="36758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Fleet 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59" y="406908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59" y="438912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59" y="470916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59" y="502920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19" y="5760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0C8"/>
                </a:solidFill>
                <a:latin typeface="Calibri"/>
              </a:defRPr>
            </a:pPr>
            <a:r>
              <a:t>Vehicle list, maintenance jobs, fuel tracking, documents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18" y="3657600"/>
            <a:ext cx="3474720" cy="2011680"/>
          </a:xfrm>
          <a:prstGeom prst="roundRect">
            <a:avLst/>
          </a:prstGeom>
          <a:solidFill>
            <a:srgbClr val="28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18" y="3657600"/>
            <a:ext cx="3474720" cy="2286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8" y="36758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Owner Fund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598" y="406908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598" y="438912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598" y="4709160"/>
            <a:ext cx="22860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598" y="5029200"/>
            <a:ext cx="2743200" cy="109728"/>
          </a:xfrm>
          <a:prstGeom prst="rect">
            <a:avLst/>
          </a:prstGeom>
          <a:solidFill>
            <a:srgbClr val="3A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58" y="5760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0C8"/>
                </a:solidFill>
                <a:latin typeface="Calibri"/>
              </a:defRPr>
            </a:pPr>
            <a:r>
              <a:t>Incoming/outgoing entries, statement, filterable 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2A3A"/>
                </a:solidFill>
                <a:latin typeface="Calibri"/>
              </a:defRPr>
            </a:pPr>
            <a:r>
              <a:t>Deployment &amp;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" cy="10972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Server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2GB RAM · 2 vCPU · 20GB SSD · Ubuntu 22.04+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4864" cy="10972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25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Bare metal, Docker container, Render, Railway, or any VPS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53035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54864" cy="10972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97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Auto-migration on startup — zero manual DB setup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53035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560320"/>
            <a:ext cx="54864" cy="10972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697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Automatic daily backups, one-click download, PC mirror sync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53035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54864" cy="10972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Role-based access (Admin, Accounts, Supplier, Technician)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931920"/>
            <a:ext cx="53035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931920"/>
            <a:ext cx="54864" cy="10972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Git-based updates, documentation, remote deployment assistance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Let's Transform Your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9456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A623"/>
                </a:solidFill>
                <a:latin typeface="Calibri"/>
              </a:defRPr>
            </a:pPr>
            <a:r>
              <a:t>Get a personalized demo of Current Link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B0C8"/>
                </a:solidFill>
                <a:latin typeface="Calibri"/>
              </a:defRPr>
            </a:pPr>
            <a:r>
              <a:t>Contact us today to see how we can streamline your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A623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+971 50-122-4963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A623"/>
                </a:solidFill>
                <a:latin typeface="Calibri"/>
              </a:defRPr>
            </a:pPr>
            <a: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info@currentlinktgc.com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A623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www.currentlinkgc.com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A623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Mussaffah, Abu Dhabi, UAE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Current Link Transport &amp; General Contracting LLC SPC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